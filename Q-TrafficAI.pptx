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97" d="100"/>
          <a:sy n="97" d="100"/>
        </p:scale>
        <p:origin x="674" y="1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1DC7-F4CE-B274-9E0E-2832678BD2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C003C-AB18-8615-0A86-CCB26D3B5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0ED00-04D3-0041-A2E9-63204DC5D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92C87-4DA3-41F4-A3C3-9C52A932118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C489D-55E7-03A2-F5E7-5D5CB2101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4A1F9-7635-23AF-A79F-E4AB6F757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0A24-A6AA-47BD-9C82-65BBEA950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055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DB7BB-D8E8-524A-7BAC-F58FDB796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76D99-AB57-CE5C-1325-52105B10F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FCE46-761E-367D-DE7D-A8122BCEA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92C87-4DA3-41F4-A3C3-9C52A932118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F1C25-4AF3-6ECA-F530-2E224616E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1D46B-C4C1-0D09-18C7-71ED54AB4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0A24-A6AA-47BD-9C82-65BBEA950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433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0D848-B599-A3A4-EF6C-ABC13147D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1CC6F-16A9-2D4E-AA66-464C5E216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430E4-5302-8309-0675-1354F31C4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92C87-4DA3-41F4-A3C3-9C52A932118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7937C-D6BB-F603-6170-59110D40B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38FB3-B3E3-4D28-BFB6-BC7198DCA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0A24-A6AA-47BD-9C82-65BBEA950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982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D184A-EA42-6D10-77FE-AB668E3BB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12337-1F00-9FB5-E7F3-AB85E636E0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4C9A9-C6F1-48C1-40C5-483E6BC36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82B42-12AF-FE5D-0513-BD92EDA6D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92C87-4DA3-41F4-A3C3-9C52A932118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FE38C-BF3D-1700-5D7E-D8A3991B7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FC31F-BE9F-3C16-BF77-652A8097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0A24-A6AA-47BD-9C82-65BBEA950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35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A0887-10AA-3837-A7BD-C6BA828C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62EA8-0CAF-4FAA-70A2-3E9ABA387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E5B21B-AA20-ECB6-1789-9C37D6402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622294-A035-5371-1047-720E698E05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7CEB9-8A7C-4149-500D-924EF8A469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6BB148-56B6-4853-27EB-08956B866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92C87-4DA3-41F4-A3C3-9C52A932118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F22CEB-323E-1CC5-2BF9-4C7DBD83F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E000BA-4D5A-17E0-D659-5A3A2C1E1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0A24-A6AA-47BD-9C82-65BBEA950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841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97F8A-D262-17BE-57F8-1DC113299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887430-D6B1-BF6D-2DAA-2A6EFFC90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92C87-4DA3-41F4-A3C3-9C52A932118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2417C4-DD76-B977-FE91-5705D4AF9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C8D6B8-E03B-C64E-2C5A-18103D41C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0A24-A6AA-47BD-9C82-65BBEA950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333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CE4FA9-1F4B-7CA7-4474-F4D11BFEA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92C87-4DA3-41F4-A3C3-9C52A932118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6B0DFA-C9A7-EC18-C5DA-2FAF5DFE8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B8D02-6E6B-E880-4347-CCD6AF620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0A24-A6AA-47BD-9C82-65BBEA950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262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E1906-88BC-A8F8-CA60-CF64113E2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79AE5-EF5F-9D08-57DF-7F6671C8D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6D2E7B-7C76-4FF6-D12D-AE4EE3EDC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B5AC1-44A0-8B4D-5BAB-CE86BB48D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92C87-4DA3-41F4-A3C3-9C52A932118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5C95FB-BB64-1E90-664C-5EAE6825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84ECC-B9AD-48E4-5188-621331979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0A24-A6AA-47BD-9C82-65BBEA950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11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9722E-766F-52A2-21CA-605BDB7E4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702FEB-9C50-A273-1F0B-B8F5AFD2DC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3C5599-C0A8-04ED-4E35-A4ED5437D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FD3A1-44B0-A43C-EE96-7601D4B12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92C87-4DA3-41F4-A3C3-9C52A932118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EF3AC-BDBB-BF26-5192-53116DA5E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D7A6B-6DDB-56DF-6686-BA4897341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0A24-A6AA-47BD-9C82-65BBEA950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620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D951D-8E8E-2FFE-20B3-0CCC2517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302BBC-121D-4963-77A3-BBC09A2CA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F115D-491F-07D2-E5CE-E3345AC29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92C87-4DA3-41F4-A3C3-9C52A932118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E194F-F55C-DC67-F742-319053154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F1C7A-2B4E-5B9C-CBC2-4A36ECD97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0A24-A6AA-47BD-9C82-65BBEA950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085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DCE43E-ED21-796F-879D-B774737F29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7B1EC-652F-FDAE-053C-83C18B6C9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052F5-1711-8A4A-4C5E-8116BC635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92C87-4DA3-41F4-A3C3-9C52A932118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CFDB5-0F43-BEF0-04EB-ACCECE551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C1731-8DB1-A300-0CA0-31474D4B8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0A24-A6AA-47BD-9C82-65BBEA950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510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C99020-A989-C6FB-076B-7D1844D4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CC729-98C3-293A-81F9-06B8E0AB3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2F276-82D9-EEF5-1DF1-11DE16394A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C92C87-4DA3-41F4-A3C3-9C52A932118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D5A18-0B76-9D8F-C599-5F8EFCA531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D9C9D-81BC-B10E-E064-4E23E43CB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30A24-A6AA-47BD-9C82-65BBEA950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868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CA772-0139-5EB3-9E99-CD6BCE92C0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Q-</a:t>
            </a:r>
            <a:r>
              <a:rPr lang="en-US" dirty="0" err="1"/>
              <a:t>TrafficAI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7367E7-D485-E75C-CFC0-FA4B9753FF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Adaptive Quantum Signal Allocation for AI-Driven Intelligent Traffic Optimization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81451-C1C5-A050-ECA6-B409224B9183}"/>
              </a:ext>
            </a:extLst>
          </p:cNvPr>
          <p:cNvSpPr txBox="1"/>
          <p:nvPr/>
        </p:nvSpPr>
        <p:spPr>
          <a:xfrm>
            <a:off x="1524000" y="476053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 Predicts </a:t>
            </a:r>
            <a:r>
              <a:rPr lang="en-IN" dirty="0"/>
              <a:t>→ AQSA Selects → Quantum Optimizes → Traffic Improves</a:t>
            </a:r>
          </a:p>
          <a:p>
            <a:r>
              <a:rPr lang="en-IN" b="1" dirty="0"/>
              <a:t>Technology:</a:t>
            </a:r>
            <a:r>
              <a:rPr lang="en-IN" dirty="0"/>
              <a:t> Python • </a:t>
            </a:r>
            <a:r>
              <a:rPr lang="en-IN" dirty="0" err="1"/>
              <a:t>Streamlit</a:t>
            </a:r>
            <a:r>
              <a:rPr lang="en-IN" dirty="0"/>
              <a:t> • Machine Learning • QUBO • QAOA • Quantum Simulation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A77DEF-CBF2-CFF8-E619-FA5BBD49FF6B}"/>
              </a:ext>
            </a:extLst>
          </p:cNvPr>
          <p:cNvSpPr txBox="1"/>
          <p:nvPr/>
        </p:nvSpPr>
        <p:spPr>
          <a:xfrm>
            <a:off x="8380429" y="5674936"/>
            <a:ext cx="3811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By:</a:t>
            </a:r>
          </a:p>
          <a:p>
            <a:r>
              <a:rPr lang="en-US" dirty="0" err="1"/>
              <a:t>Avutu</a:t>
            </a:r>
            <a:r>
              <a:rPr lang="en-US" dirty="0"/>
              <a:t> Nikhil Sai Ram Reddy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0906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E557B-7D35-8F59-2F08-750A8CA67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BCA5E-9549-F9DA-72F3-F894B0F4E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Urban traffic congestion is a major challenge caused by:</a:t>
            </a:r>
          </a:p>
          <a:p>
            <a:r>
              <a:rPr lang="en-US" dirty="0"/>
              <a:t>Rapid growth in vehicle density</a:t>
            </a:r>
          </a:p>
          <a:p>
            <a:r>
              <a:rPr lang="en-US" dirty="0"/>
              <a:t>Unbalanced traffic flow</a:t>
            </a:r>
          </a:p>
          <a:p>
            <a:r>
              <a:rPr lang="en-US" dirty="0"/>
              <a:t>Fixed-time traffic signals</a:t>
            </a:r>
          </a:p>
          <a:p>
            <a:r>
              <a:rPr lang="en-US" dirty="0"/>
              <a:t>Long waiting queues</a:t>
            </a:r>
          </a:p>
          <a:p>
            <a:r>
              <a:rPr lang="en-US" dirty="0"/>
              <a:t>Inefficient signal coordination</a:t>
            </a:r>
          </a:p>
          <a:p>
            <a:r>
              <a:rPr lang="en-US" dirty="0"/>
              <a:t>Difficulty handling sudden traffic changes</a:t>
            </a:r>
          </a:p>
          <a:p>
            <a:pPr marL="0" indent="0">
              <a:buNone/>
            </a:pPr>
            <a:r>
              <a:rPr lang="en-US" dirty="0"/>
              <a:t>Traditional optimization becomes increasingly difficult as the number of intersections and signal combinations grows.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693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D92F4-2FDB-1D9B-1FA5-1CBF8E440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7839"/>
            <a:ext cx="10515600" cy="531912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Our approach</a:t>
            </a:r>
          </a:p>
          <a:p>
            <a:pPr marL="0" indent="0">
              <a:buNone/>
            </a:pPr>
            <a:r>
              <a:rPr lang="en-IN" dirty="0"/>
              <a:t>Q-</a:t>
            </a:r>
            <a:r>
              <a:rPr lang="en-IN" dirty="0" err="1"/>
              <a:t>TrafficAI</a:t>
            </a:r>
            <a:r>
              <a:rPr lang="en-IN" dirty="0"/>
              <a:t> combines Artificial Intelligence and Quantum Optimization to dynamically identify critical intersections and optimize their signal configurations.</a:t>
            </a:r>
          </a:p>
          <a:p>
            <a:pPr marL="0" indent="0">
              <a:buNone/>
            </a:pPr>
            <a:r>
              <a:rPr lang="en-IN" b="1" dirty="0"/>
              <a:t>Visual: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Traffic Data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AI Prediction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AQSA Prioritization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QUBO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QAOA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Optimized Signals</a:t>
            </a:r>
          </a:p>
        </p:txBody>
      </p:sp>
    </p:spTree>
    <p:extLst>
      <p:ext uri="{BB962C8B-B14F-4D97-AF65-F5344CB8AC3E}">
        <p14:creationId xmlns:p14="http://schemas.microsoft.com/office/powerpoint/2010/main" val="1631635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A73E9-5899-DB00-688C-1FD49FFC9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9215C-44AE-C388-2CE2-EFBDD998A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Existing traffic-control approaches face three major challenges:</a:t>
            </a:r>
          </a:p>
          <a:p>
            <a:pPr marL="0" indent="0">
              <a:buNone/>
            </a:pPr>
            <a:r>
              <a:rPr lang="en-IN" b="1" dirty="0"/>
              <a:t>1. Static Optimization</a:t>
            </a:r>
          </a:p>
          <a:p>
            <a:pPr marL="0" indent="0">
              <a:buNone/>
            </a:pPr>
            <a:r>
              <a:rPr lang="en-IN" dirty="0"/>
              <a:t>Fixed-time signals cannot dynamically respond to changing traffic.</a:t>
            </a:r>
          </a:p>
          <a:p>
            <a:pPr marL="0" indent="0">
              <a:buNone/>
            </a:pPr>
            <a:r>
              <a:rPr lang="en-IN" b="1" dirty="0"/>
              <a:t>2. Large Optimization Search Space</a:t>
            </a:r>
          </a:p>
          <a:p>
            <a:pPr marL="0" indent="0">
              <a:buNone/>
            </a:pPr>
            <a:r>
              <a:rPr lang="en-IN" dirty="0"/>
              <a:t>Optimizing every intersection simultaneously creates a rapidly growing search space.</a:t>
            </a:r>
          </a:p>
          <a:p>
            <a:pPr marL="0" indent="0">
              <a:buNone/>
            </a:pPr>
            <a:r>
              <a:rPr lang="en-IN" dirty="0"/>
              <a:t>For N binary variables:</a:t>
            </a:r>
          </a:p>
          <a:p>
            <a:pPr marL="0" indent="0">
              <a:buNone/>
            </a:pPr>
            <a:r>
              <a:rPr lang="en-IN" b="1" dirty="0"/>
              <a:t>Search Space = 2ᴺ</a:t>
            </a:r>
          </a:p>
          <a:p>
            <a:pPr marL="0" indent="0">
              <a:buNone/>
            </a:pPr>
            <a:r>
              <a:rPr lang="en-IN" b="1" dirty="0"/>
              <a:t>3. Quantum Resource Constraints</a:t>
            </a:r>
          </a:p>
          <a:p>
            <a:pPr marL="0" indent="0">
              <a:buNone/>
            </a:pPr>
            <a:r>
              <a:rPr lang="en-IN" dirty="0"/>
              <a:t>Current quantum simulators and NISQ-era systems have limited practical qubit budgets.</a:t>
            </a:r>
          </a:p>
          <a:p>
            <a:pPr marL="0" indent="0">
              <a:buNone/>
            </a:pPr>
            <a:r>
              <a:rPr lang="en-IN" dirty="0"/>
              <a:t>Therefore:</a:t>
            </a:r>
          </a:p>
          <a:p>
            <a:pPr marL="0" indent="0">
              <a:buNone/>
            </a:pPr>
            <a:r>
              <a:rPr lang="en-IN" b="1" dirty="0"/>
              <a:t>How can AI identify the most critical traffic-signal decisions and use quantum optimization only where it provides the greatest optimization value?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5019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C091E-3847-65E0-31CF-F49397D0E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2AD69-D3FB-6E48-5378-A10043B2C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Fixed-Time Signals</a:t>
            </a:r>
          </a:p>
          <a:p>
            <a:pPr marL="0" indent="0">
              <a:buNone/>
            </a:pPr>
            <a:r>
              <a:rPr lang="en-US" dirty="0"/>
              <a:t>Fixed Traffic Pattern</a:t>
            </a:r>
          </a:p>
          <a:p>
            <a:pPr marL="0" indent="0">
              <a:buNone/>
            </a:pPr>
            <a:r>
              <a:rPr lang="en-US" dirty="0"/>
              <a:t>        ↓</a:t>
            </a:r>
          </a:p>
          <a:p>
            <a:pPr marL="0" indent="0">
              <a:buNone/>
            </a:pPr>
            <a:r>
              <a:rPr lang="en-US" dirty="0"/>
              <a:t>Fixed Signal Timing</a:t>
            </a:r>
          </a:p>
          <a:p>
            <a:pPr marL="0" indent="0">
              <a:buNone/>
            </a:pPr>
            <a:r>
              <a:rPr lang="en-US" dirty="0"/>
              <a:t>Cannot adapt dynamically</a:t>
            </a:r>
          </a:p>
          <a:p>
            <a:pPr marL="0" indent="0">
              <a:buNone/>
            </a:pPr>
            <a:r>
              <a:rPr lang="en-US" b="1" dirty="0"/>
              <a:t>Greedy Optimization</a:t>
            </a:r>
          </a:p>
          <a:p>
            <a:pPr marL="0" indent="0">
              <a:buNone/>
            </a:pPr>
            <a:r>
              <a:rPr lang="en-IN" dirty="0"/>
              <a:t>Current Traffic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pPr marL="0" indent="0">
              <a:buNone/>
            </a:pPr>
            <a:r>
              <a:rPr lang="en-IN" dirty="0"/>
              <a:t>Local Optimization</a:t>
            </a:r>
          </a:p>
          <a:p>
            <a:pPr marL="0" indent="0">
              <a:buNone/>
            </a:pPr>
            <a:r>
              <a:rPr lang="en-IN" dirty="0"/>
              <a:t>May not consider global coordination</a:t>
            </a:r>
          </a:p>
        </p:txBody>
      </p:sp>
    </p:spTree>
    <p:extLst>
      <p:ext uri="{BB962C8B-B14F-4D97-AF65-F5344CB8AC3E}">
        <p14:creationId xmlns:p14="http://schemas.microsoft.com/office/powerpoint/2010/main" val="3576231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3F981-92FA-FAE7-8BFC-F80188208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3571"/>
            <a:ext cx="10515600" cy="54133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Standard QAOA</a:t>
            </a:r>
          </a:p>
          <a:p>
            <a:pPr marL="0" indent="0">
              <a:buNone/>
            </a:pPr>
            <a:r>
              <a:rPr lang="en-IN" dirty="0"/>
              <a:t>All Variables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pPr marL="0" indent="0">
              <a:buNone/>
            </a:pPr>
            <a:r>
              <a:rPr lang="en-IN" dirty="0"/>
              <a:t>Large QUBO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pPr marL="0" indent="0">
              <a:buNone/>
            </a:pPr>
            <a:r>
              <a:rPr lang="en-IN" dirty="0"/>
              <a:t>QAOA</a:t>
            </a:r>
          </a:p>
          <a:p>
            <a:pPr marL="0" indent="0">
              <a:buNone/>
            </a:pPr>
            <a:r>
              <a:rPr lang="en-IN" dirty="0"/>
              <a:t>Larger search space</a:t>
            </a:r>
          </a:p>
          <a:p>
            <a:pPr marL="0" indent="0">
              <a:buNone/>
            </a:pPr>
            <a:r>
              <a:rPr lang="en-IN" dirty="0"/>
              <a:t>Higher quantum resource requirements</a:t>
            </a:r>
          </a:p>
          <a:p>
            <a:pPr marL="0" indent="0">
              <a:buNone/>
            </a:pPr>
            <a:r>
              <a:rPr lang="en-IN" dirty="0"/>
              <a:t>Feasibility challenges</a:t>
            </a:r>
          </a:p>
          <a:p>
            <a:pPr marL="0" indent="0">
              <a:buNone/>
            </a:pPr>
            <a:r>
              <a:rPr lang="en-IN" b="1" dirty="0"/>
              <a:t>Key Gap</a:t>
            </a:r>
          </a:p>
          <a:p>
            <a:pPr marL="0" indent="0">
              <a:buNone/>
            </a:pPr>
            <a:r>
              <a:rPr lang="en-IN" dirty="0"/>
              <a:t>The optimization problem itself should adapt to the traffic state before entering the quantum stage.</a:t>
            </a:r>
          </a:p>
        </p:txBody>
      </p:sp>
    </p:spTree>
    <p:extLst>
      <p:ext uri="{BB962C8B-B14F-4D97-AF65-F5344CB8AC3E}">
        <p14:creationId xmlns:p14="http://schemas.microsoft.com/office/powerpoint/2010/main" val="3764458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7A39-1727-4F00-6E52-83F139348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87C4E-A464-B619-B98D-34D36B96F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4133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Our system introduces:</a:t>
            </a:r>
          </a:p>
          <a:p>
            <a:pPr marL="0" indent="0">
              <a:buNone/>
            </a:pPr>
            <a:r>
              <a:rPr lang="en-IN" b="1" dirty="0"/>
              <a:t>AQSA — Adaptive Quantum Signal Allocation</a:t>
            </a:r>
          </a:p>
          <a:p>
            <a:pPr marL="0" indent="0">
              <a:buNone/>
            </a:pPr>
            <a:r>
              <a:rPr lang="en-IN" dirty="0"/>
              <a:t>Instead of sending the complete traffic network directly to QAOA:</a:t>
            </a:r>
          </a:p>
          <a:p>
            <a:pPr marL="0" indent="0">
              <a:buNone/>
            </a:pPr>
            <a:r>
              <a:rPr lang="en-IN" b="1" dirty="0"/>
              <a:t>Core idea</a:t>
            </a:r>
          </a:p>
          <a:p>
            <a:pPr marL="0" indent="0">
              <a:buNone/>
            </a:pPr>
            <a:r>
              <a:rPr lang="en-IN" dirty="0"/>
              <a:t>AI decides where optimization is most needed before quantum optimization begins.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1F69AC-F611-9FCB-B3A0-CB5EB3033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709" y="624592"/>
            <a:ext cx="4259344" cy="555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56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F93B2-0310-26CD-781D-C4DE808EB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8B990-8266-3DA6-83B8-C0068DCEB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Primary Objective</a:t>
            </a:r>
          </a:p>
          <a:p>
            <a:pPr marL="0" indent="0">
              <a:buNone/>
            </a:pPr>
            <a:r>
              <a:rPr lang="en-IN" dirty="0"/>
              <a:t>Develop a hybrid AI–quantum framework for adaptive traffic signal optimization.</a:t>
            </a:r>
          </a:p>
          <a:p>
            <a:pPr marL="0" indent="0">
              <a:buNone/>
            </a:pPr>
            <a:r>
              <a:rPr lang="en-IN" b="1" dirty="0"/>
              <a:t>Specific Objectives</a:t>
            </a:r>
          </a:p>
          <a:p>
            <a:pPr lvl="0"/>
            <a:r>
              <a:rPr lang="en-IN" dirty="0"/>
              <a:t>Predict future traffic conditions using Machine Learning. </a:t>
            </a:r>
          </a:p>
          <a:p>
            <a:pPr lvl="0"/>
            <a:r>
              <a:rPr lang="en-IN" dirty="0"/>
              <a:t>Estimate congestion and prediction uncertainty. </a:t>
            </a:r>
          </a:p>
          <a:p>
            <a:pPr lvl="0"/>
            <a:r>
              <a:rPr lang="en-IN" dirty="0"/>
              <a:t>Calculate adaptive priority scores for intersections. </a:t>
            </a:r>
          </a:p>
          <a:p>
            <a:pPr lvl="0"/>
            <a:r>
              <a:rPr lang="en-IN" dirty="0"/>
              <a:t>Select critical traffic signals under a limited qubit budget. </a:t>
            </a:r>
          </a:p>
          <a:p>
            <a:pPr lvl="0"/>
            <a:r>
              <a:rPr lang="en-IN" dirty="0"/>
              <a:t>Dynamically construct the QUBO problem. </a:t>
            </a:r>
          </a:p>
          <a:p>
            <a:pPr lvl="0"/>
            <a:r>
              <a:rPr lang="en-IN" dirty="0"/>
              <a:t>Optimize the QUBO using QAOA. </a:t>
            </a:r>
          </a:p>
          <a:p>
            <a:pPr lvl="0"/>
            <a:r>
              <a:rPr lang="en-IN" dirty="0"/>
              <a:t>Decode and validate quantum solutions. </a:t>
            </a:r>
          </a:p>
          <a:p>
            <a:pPr lvl="0"/>
            <a:r>
              <a:rPr lang="en-IN" dirty="0"/>
              <a:t>Compare AQSA against classical and standard quantum approaches. </a:t>
            </a:r>
          </a:p>
          <a:p>
            <a:pPr lvl="0"/>
            <a:r>
              <a:rPr lang="en-IN" dirty="0"/>
              <a:t>Evaluate the system through traffic simulation. </a:t>
            </a:r>
          </a:p>
          <a:p>
            <a:pPr lvl="0"/>
            <a:r>
              <a:rPr lang="en-IN" dirty="0"/>
              <a:t>Provide an interactive </a:t>
            </a:r>
            <a:r>
              <a:rPr lang="en-IN" dirty="0" err="1"/>
              <a:t>Streamlit</a:t>
            </a:r>
            <a:r>
              <a:rPr lang="en-IN" dirty="0"/>
              <a:t> smart-city dashboard.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7697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DD977-6CD2-E1CF-D246-95D9D359C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F35E41-4E33-AAB3-81F1-F55846A7AD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5554" y="1825625"/>
            <a:ext cx="290089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13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C309F-6881-E4D5-6600-A462B8167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Traffic Prediction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1A4D9-CDE0-2307-B011-C8CBE39B0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Model Used</a:t>
            </a:r>
          </a:p>
          <a:p>
            <a:pPr marL="0" indent="0">
              <a:buNone/>
            </a:pPr>
            <a:r>
              <a:rPr lang="en-US" b="1" dirty="0"/>
              <a:t>Random Forest Regressor</a:t>
            </a:r>
          </a:p>
          <a:p>
            <a:pPr marL="0" indent="0">
              <a:buNone/>
            </a:pPr>
            <a:r>
              <a:rPr lang="en-IN" dirty="0"/>
              <a:t>The implemented model uses </a:t>
            </a:r>
            <a:r>
              <a:rPr lang="en-IN" b="1" dirty="0"/>
              <a:t>40 decision trees</a:t>
            </a:r>
            <a:r>
              <a:rPr lang="en-IN" dirty="0"/>
              <a:t> with multi-target prediction.</a:t>
            </a:r>
          </a:p>
          <a:p>
            <a:pPr marL="0" indent="0">
              <a:buNone/>
            </a:pPr>
            <a:r>
              <a:rPr lang="en-IN" b="1" dirty="0"/>
              <a:t>Predicts</a:t>
            </a:r>
          </a:p>
          <a:p>
            <a:r>
              <a:rPr lang="en-IN" dirty="0"/>
              <a:t>Traffic Volume</a:t>
            </a:r>
          </a:p>
          <a:p>
            <a:r>
              <a:rPr lang="en-IN" dirty="0"/>
              <a:t>Queue Length</a:t>
            </a:r>
          </a:p>
          <a:p>
            <a:r>
              <a:rPr lang="en-IN" dirty="0"/>
              <a:t>Congestion index</a:t>
            </a:r>
          </a:p>
        </p:txBody>
      </p:sp>
    </p:spTree>
    <p:extLst>
      <p:ext uri="{BB962C8B-B14F-4D97-AF65-F5344CB8AC3E}">
        <p14:creationId xmlns:p14="http://schemas.microsoft.com/office/powerpoint/2010/main" val="1337698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2BD85-7673-0FBD-770F-9F7F8EFE8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0705"/>
            <a:ext cx="10515600" cy="536625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Input Features</a:t>
            </a:r>
          </a:p>
          <a:p>
            <a:r>
              <a:rPr lang="en-IN" dirty="0"/>
              <a:t>Time</a:t>
            </a:r>
          </a:p>
          <a:p>
            <a:r>
              <a:rPr lang="en-IN" dirty="0"/>
              <a:t>Hour</a:t>
            </a:r>
          </a:p>
          <a:p>
            <a:r>
              <a:rPr lang="en-IN" dirty="0"/>
              <a:t>Intersection</a:t>
            </a:r>
          </a:p>
          <a:p>
            <a:r>
              <a:rPr lang="en-IN" dirty="0"/>
              <a:t>Vehicle Volume</a:t>
            </a:r>
          </a:p>
          <a:p>
            <a:r>
              <a:rPr lang="en-IN" dirty="0"/>
              <a:t>Queue Length</a:t>
            </a:r>
          </a:p>
          <a:p>
            <a:r>
              <a:rPr lang="en-IN" dirty="0"/>
              <a:t>Waiting Time</a:t>
            </a:r>
          </a:p>
          <a:p>
            <a:r>
              <a:rPr lang="en-IN" dirty="0"/>
              <a:t>Occupancy</a:t>
            </a:r>
          </a:p>
          <a:p>
            <a:r>
              <a:rPr lang="en-IN" dirty="0"/>
              <a:t>Density</a:t>
            </a:r>
          </a:p>
          <a:p>
            <a:r>
              <a:rPr lang="en-IN" dirty="0"/>
              <a:t>Average Speed</a:t>
            </a:r>
          </a:p>
          <a:p>
            <a:r>
              <a:rPr lang="en-IN" dirty="0"/>
              <a:t>Congestion Indicators</a:t>
            </a:r>
          </a:p>
          <a:p>
            <a:pPr marL="0" indent="0">
              <a:buNone/>
            </a:pPr>
            <a:r>
              <a:rPr lang="en-IN" b="1" dirty="0"/>
              <a:t>Uncertainty</a:t>
            </a:r>
          </a:p>
          <a:p>
            <a:pPr marL="0" indent="0">
              <a:buNone/>
            </a:pPr>
            <a:r>
              <a:rPr lang="en-IN" dirty="0"/>
              <a:t>The system estimates prediction uncertainty using the variation across ensemble trees.</a:t>
            </a:r>
          </a:p>
          <a:p>
            <a:pPr marL="0" indent="0">
              <a:buNone/>
            </a:pPr>
            <a:r>
              <a:rPr lang="en-IN" b="1" dirty="0"/>
              <a:t>95% confidence margin: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Prediction ± 1.96σ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01344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ED65E-6FF9-4A72-66E8-A775256B2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AQSA Algorithm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F8FFF-B2C2-C8BC-53BB-B7121EE80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Step 1 — Traffic Intelligence</a:t>
            </a:r>
          </a:p>
          <a:p>
            <a:pPr marL="0" indent="0">
              <a:buNone/>
            </a:pPr>
            <a:r>
              <a:rPr lang="en-IN" dirty="0"/>
              <a:t>Calculate:</a:t>
            </a:r>
          </a:p>
          <a:p>
            <a:pPr lvl="0"/>
            <a:r>
              <a:rPr lang="en-IN" dirty="0"/>
              <a:t>Congestion </a:t>
            </a:r>
          </a:p>
          <a:p>
            <a:pPr lvl="0"/>
            <a:r>
              <a:rPr lang="en-IN" dirty="0"/>
              <a:t>Queue </a:t>
            </a:r>
          </a:p>
          <a:p>
            <a:pPr lvl="0"/>
            <a:r>
              <a:rPr lang="en-IN" dirty="0"/>
              <a:t>Waiting time </a:t>
            </a:r>
          </a:p>
          <a:p>
            <a:pPr lvl="0"/>
            <a:r>
              <a:rPr lang="en-IN" dirty="0"/>
              <a:t>Density </a:t>
            </a:r>
          </a:p>
          <a:p>
            <a:pPr lvl="0"/>
            <a:r>
              <a:rPr lang="en-IN" dirty="0"/>
              <a:t>Prediction uncertainty </a:t>
            </a:r>
          </a:p>
          <a:p>
            <a:pPr marL="0" indent="0">
              <a:buNone/>
            </a:pPr>
            <a:r>
              <a:rPr lang="en-IN" b="1" dirty="0"/>
              <a:t>Step 2 — Adaptive Weighting</a:t>
            </a:r>
          </a:p>
          <a:p>
            <a:pPr marL="0" indent="0">
              <a:buNone/>
            </a:pPr>
            <a:r>
              <a:rPr lang="en-IN" dirty="0"/>
              <a:t>The importance of these factors changes according to current network conditions.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4071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44179-A7E4-EC0D-D439-1E78F5858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8412"/>
            <a:ext cx="10515600" cy="5328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Step 3 — Priority Score</a:t>
            </a:r>
          </a:p>
          <a:p>
            <a:pPr marL="0" indent="0">
              <a:buNone/>
            </a:pPr>
            <a:r>
              <a:rPr lang="en-IN" dirty="0"/>
              <a:t>Priorityᵢ = </a:t>
            </a:r>
            <a:r>
              <a:rPr lang="en-IN" dirty="0" err="1"/>
              <a:t>w₁C</a:t>
            </a:r>
            <a:r>
              <a:rPr lang="en-IN" dirty="0"/>
              <a:t>ᵢ + </a:t>
            </a:r>
            <a:r>
              <a:rPr lang="en-IN" dirty="0" err="1"/>
              <a:t>w₂Q</a:t>
            </a:r>
            <a:r>
              <a:rPr lang="en-IN" dirty="0"/>
              <a:t>ᵢ + </a:t>
            </a:r>
            <a:r>
              <a:rPr lang="en-IN" dirty="0" err="1"/>
              <a:t>w₃W</a:t>
            </a:r>
            <a:r>
              <a:rPr lang="en-IN" dirty="0"/>
              <a:t>ᵢ + </a:t>
            </a:r>
            <a:r>
              <a:rPr lang="en-IN" dirty="0" err="1"/>
              <a:t>w₄D</a:t>
            </a:r>
            <a:r>
              <a:rPr lang="en-IN" dirty="0"/>
              <a:t>ᵢ + </a:t>
            </a:r>
            <a:r>
              <a:rPr lang="en-IN" dirty="0" err="1"/>
              <a:t>w₅U</a:t>
            </a:r>
            <a:r>
              <a:rPr lang="en-IN" dirty="0"/>
              <a:t>ᵢ</a:t>
            </a:r>
          </a:p>
          <a:p>
            <a:pPr marL="0" indent="0">
              <a:buNone/>
            </a:pPr>
            <a:r>
              <a:rPr lang="en-IN" dirty="0"/>
              <a:t>Where:</a:t>
            </a:r>
          </a:p>
          <a:p>
            <a:pPr lvl="0"/>
            <a:r>
              <a:rPr lang="en-IN" dirty="0"/>
              <a:t>C = Congestion </a:t>
            </a:r>
          </a:p>
          <a:p>
            <a:pPr lvl="0"/>
            <a:r>
              <a:rPr lang="en-IN" dirty="0"/>
              <a:t>Q = Queue </a:t>
            </a:r>
          </a:p>
          <a:p>
            <a:pPr lvl="0"/>
            <a:r>
              <a:rPr lang="en-IN" dirty="0"/>
              <a:t>w = Waiting time </a:t>
            </a:r>
          </a:p>
          <a:p>
            <a:pPr lvl="0"/>
            <a:r>
              <a:rPr lang="en-IN" dirty="0"/>
              <a:t>D = Density </a:t>
            </a:r>
          </a:p>
          <a:p>
            <a:pPr lvl="0"/>
            <a:r>
              <a:rPr lang="en-IN" dirty="0"/>
              <a:t>U = Uncertainty</a:t>
            </a:r>
          </a:p>
          <a:p>
            <a:pPr marL="0" indent="0">
              <a:buNone/>
            </a:pPr>
            <a:r>
              <a:rPr lang="en-IN" b="1" dirty="0"/>
              <a:t>Step 4 — Variable Selection</a:t>
            </a:r>
          </a:p>
          <a:p>
            <a:pPr marL="0" indent="0">
              <a:buNone/>
            </a:pPr>
            <a:r>
              <a:rPr lang="en-IN" dirty="0"/>
              <a:t>Only high-priority intersections are mapped into the quantum problem.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5039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ADD8B-1684-1CBB-116F-0382C6FD7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QUBO &amp; QAOA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BAA90-9C4E-87B2-F75D-A3E9CB8AE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Dynamic QUBO</a:t>
            </a:r>
          </a:p>
          <a:p>
            <a:pPr marL="0" indent="0">
              <a:buNone/>
            </a:pPr>
            <a:r>
              <a:rPr lang="en-IN" dirty="0"/>
              <a:t>The objective minimizes:</a:t>
            </a:r>
          </a:p>
          <a:p>
            <a:pPr marL="0" indent="0">
              <a:buNone/>
            </a:pPr>
            <a:r>
              <a:rPr lang="en-US" dirty="0"/>
              <a:t>Traffic Delay</a:t>
            </a:r>
          </a:p>
          <a:p>
            <a:pPr marL="0" indent="0">
              <a:buNone/>
            </a:pPr>
            <a:r>
              <a:rPr lang="en-US" dirty="0"/>
              <a:t>      +</a:t>
            </a:r>
          </a:p>
          <a:p>
            <a:pPr marL="0" indent="0">
              <a:buNone/>
            </a:pPr>
            <a:r>
              <a:rPr lang="en-US" dirty="0"/>
              <a:t>Queue Length</a:t>
            </a:r>
          </a:p>
          <a:p>
            <a:pPr marL="0" indent="0">
              <a:buNone/>
            </a:pPr>
            <a:r>
              <a:rPr lang="en-US" dirty="0"/>
              <a:t>      +</a:t>
            </a:r>
          </a:p>
          <a:p>
            <a:pPr marL="0" indent="0">
              <a:buNone/>
            </a:pPr>
            <a:r>
              <a:rPr lang="en-US" dirty="0"/>
              <a:t>Signal Switching Cost</a:t>
            </a:r>
          </a:p>
          <a:p>
            <a:pPr marL="0" indent="0">
              <a:buNone/>
            </a:pPr>
            <a:r>
              <a:rPr lang="en-US" dirty="0"/>
              <a:t>      +</a:t>
            </a:r>
          </a:p>
          <a:p>
            <a:pPr marL="0" indent="0">
              <a:buNone/>
            </a:pPr>
            <a:r>
              <a:rPr lang="en-US" dirty="0"/>
              <a:t>Coordination Cost</a:t>
            </a:r>
          </a:p>
          <a:p>
            <a:pPr marL="0" indent="0">
              <a:buNone/>
            </a:pPr>
            <a:r>
              <a:rPr lang="en-US" dirty="0"/>
              <a:t>      +</a:t>
            </a:r>
          </a:p>
          <a:p>
            <a:pPr marL="0" indent="0">
              <a:buNone/>
            </a:pPr>
            <a:r>
              <a:rPr lang="en-US" dirty="0"/>
              <a:t>Constraint Penalty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4895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78EB4-211A-EC3D-DFB1-989626817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8986"/>
            <a:ext cx="10515600" cy="53379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Mathematically:</a:t>
            </a:r>
          </a:p>
          <a:p>
            <a:pPr marL="0" indent="0">
              <a:buNone/>
            </a:pPr>
            <a:r>
              <a:rPr lang="en-IN" b="1" dirty="0"/>
              <a:t>min </a:t>
            </a:r>
            <a:r>
              <a:rPr lang="en-IN" b="1" dirty="0" err="1"/>
              <a:t>xᵀQx</a:t>
            </a:r>
            <a:endParaRPr lang="en-IN" b="1" dirty="0"/>
          </a:p>
          <a:p>
            <a:pPr marL="0" indent="0">
              <a:buNone/>
            </a:pPr>
            <a:r>
              <a:rPr lang="en-IN" dirty="0"/>
              <a:t>The QUBO matrix changes according to the current traffic state.</a:t>
            </a:r>
          </a:p>
          <a:p>
            <a:pPr marL="0" indent="0">
              <a:buNone/>
            </a:pPr>
            <a:r>
              <a:rPr lang="en-IN" b="1" dirty="0"/>
              <a:t>QUBO → Ising</a:t>
            </a:r>
          </a:p>
          <a:p>
            <a:pPr marL="0" indent="0">
              <a:buNone/>
            </a:pPr>
            <a:r>
              <a:rPr lang="en-IN" dirty="0"/>
              <a:t>QUBO</a:t>
            </a:r>
          </a:p>
          <a:p>
            <a:pPr marL="0" indent="0">
              <a:buNone/>
            </a:pPr>
            <a:r>
              <a:rPr lang="en-IN" dirty="0"/>
              <a:t> ↓</a:t>
            </a:r>
          </a:p>
          <a:p>
            <a:pPr marL="0" indent="0">
              <a:buNone/>
            </a:pPr>
            <a:r>
              <a:rPr lang="en-IN" dirty="0"/>
              <a:t>Binary Variables</a:t>
            </a:r>
          </a:p>
          <a:p>
            <a:pPr marL="0" indent="0">
              <a:buNone/>
            </a:pPr>
            <a:r>
              <a:rPr lang="en-IN" dirty="0"/>
              <a:t> ↓</a:t>
            </a:r>
          </a:p>
          <a:p>
            <a:pPr marL="0" indent="0">
              <a:buNone/>
            </a:pPr>
            <a:r>
              <a:rPr lang="en-IN" dirty="0"/>
              <a:t>Ising Hamiltonian</a:t>
            </a:r>
          </a:p>
          <a:p>
            <a:pPr marL="0" indent="0">
              <a:buNone/>
            </a:pPr>
            <a:r>
              <a:rPr lang="en-IN" dirty="0"/>
              <a:t> ↓</a:t>
            </a:r>
          </a:p>
          <a:p>
            <a:pPr marL="0" indent="0">
              <a:buNone/>
            </a:pPr>
            <a:r>
              <a:rPr lang="en-IN" dirty="0"/>
              <a:t>QAOA Circuit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0463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416D2-D425-8EA3-AAFF-791D120C2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2425"/>
            <a:ext cx="10515600" cy="53945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QAOA</a:t>
            </a:r>
          </a:p>
          <a:p>
            <a:pPr marL="0" indent="0">
              <a:buNone/>
            </a:pPr>
            <a:r>
              <a:rPr lang="en-IN" dirty="0"/>
              <a:t>The project uses:</a:t>
            </a:r>
          </a:p>
          <a:p>
            <a:pPr lvl="0"/>
            <a:r>
              <a:rPr lang="en-IN" dirty="0" err="1"/>
              <a:t>Qiskit</a:t>
            </a:r>
            <a:r>
              <a:rPr lang="en-IN" dirty="0"/>
              <a:t> </a:t>
            </a:r>
          </a:p>
          <a:p>
            <a:pPr lvl="0"/>
            <a:r>
              <a:rPr lang="en-IN" dirty="0" err="1"/>
              <a:t>Qiskit</a:t>
            </a:r>
            <a:r>
              <a:rPr lang="en-IN" dirty="0"/>
              <a:t> Aer </a:t>
            </a:r>
          </a:p>
          <a:p>
            <a:pPr lvl="0"/>
            <a:r>
              <a:rPr lang="en-IN" dirty="0"/>
              <a:t>COBYLA optimizer </a:t>
            </a:r>
          </a:p>
          <a:p>
            <a:pPr lvl="0"/>
            <a:r>
              <a:rPr lang="en-IN" dirty="0"/>
              <a:t>4–8 qubit configurations </a:t>
            </a:r>
          </a:p>
          <a:p>
            <a:pPr lvl="0"/>
            <a:r>
              <a:rPr lang="en-IN" dirty="0"/>
              <a:t>1–3 QAOA layers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6059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D2566-F83B-1C64-BAA4-CA9E8F932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Feasibility-Aware Solution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F4AAE-81B9-303C-3672-F06516CC7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Quantum Solution Decoding</a:t>
            </a:r>
          </a:p>
          <a:p>
            <a:pPr marL="0" indent="0">
              <a:buNone/>
            </a:pPr>
            <a:r>
              <a:rPr lang="en-IN" dirty="0"/>
              <a:t>QAOA produces multiple candidate bitstrings:</a:t>
            </a:r>
          </a:p>
          <a:p>
            <a:pPr marL="0" indent="0">
              <a:buNone/>
            </a:pPr>
            <a:r>
              <a:rPr lang="en-IN" dirty="0"/>
              <a:t>101010</a:t>
            </a:r>
          </a:p>
          <a:p>
            <a:pPr marL="0" indent="0">
              <a:buNone/>
            </a:pPr>
            <a:r>
              <a:rPr lang="en-IN" dirty="0"/>
              <a:t>101000</a:t>
            </a:r>
          </a:p>
          <a:p>
            <a:pPr marL="0" indent="0">
              <a:buNone/>
            </a:pPr>
            <a:r>
              <a:rPr lang="en-IN" dirty="0"/>
              <a:t>001010</a:t>
            </a:r>
          </a:p>
          <a:p>
            <a:pPr marL="0" indent="0">
              <a:buNone/>
            </a:pPr>
            <a:r>
              <a:rPr lang="en-IN" dirty="0"/>
              <a:t>111001</a:t>
            </a:r>
          </a:p>
          <a:p>
            <a:pPr marL="0" indent="0">
              <a:buNone/>
            </a:pPr>
            <a:r>
              <a:rPr lang="en-IN" dirty="0"/>
              <a:t>...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8537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8CCC4-0F2F-7552-2310-F682DA69C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9911"/>
            <a:ext cx="10515600" cy="522705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Instead of selecting only the highest-probability result:</a:t>
            </a:r>
          </a:p>
          <a:p>
            <a:pPr marL="0" indent="0">
              <a:buNone/>
            </a:pPr>
            <a:r>
              <a:rPr lang="en-IN" b="1" dirty="0"/>
              <a:t>AQSA evaluates each candidate based on:</a:t>
            </a:r>
          </a:p>
          <a:p>
            <a:pPr lvl="0"/>
            <a:r>
              <a:rPr lang="en-IN" dirty="0"/>
              <a:t>Signal feasibility </a:t>
            </a:r>
          </a:p>
          <a:p>
            <a:pPr lvl="0"/>
            <a:r>
              <a:rPr lang="en-IN" dirty="0"/>
              <a:t>Constraint violations </a:t>
            </a:r>
          </a:p>
          <a:p>
            <a:pPr lvl="0"/>
            <a:r>
              <a:rPr lang="en-IN" dirty="0"/>
              <a:t>QUBO objective </a:t>
            </a:r>
          </a:p>
          <a:p>
            <a:pPr lvl="0"/>
            <a:r>
              <a:rPr lang="en-IN" dirty="0"/>
              <a:t>Queue reduction </a:t>
            </a:r>
          </a:p>
          <a:p>
            <a:pPr lvl="0"/>
            <a:r>
              <a:rPr lang="en-IN" dirty="0"/>
              <a:t>Waiting-time reduction </a:t>
            </a:r>
          </a:p>
          <a:p>
            <a:pPr lvl="0"/>
            <a:r>
              <a:rPr lang="en-IN" dirty="0"/>
              <a:t>Congestion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3432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237DC-EC05-5EE8-8488-287B9F686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6443"/>
            <a:ext cx="10515600" cy="512052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Final Decision</a:t>
            </a:r>
          </a:p>
          <a:p>
            <a:pPr marL="0" indent="0">
              <a:buNone/>
            </a:pPr>
            <a:r>
              <a:rPr lang="en-IN" dirty="0"/>
              <a:t>Quantum Measurements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Candidate Solutions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Constraint Checking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Objective Evaluation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Best Feasible Configuration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Traffic Signal Plan</a:t>
            </a:r>
          </a:p>
          <a:p>
            <a:pPr marL="0" indent="0">
              <a:buNone/>
            </a:pPr>
            <a:r>
              <a:rPr lang="en-IN" dirty="0"/>
              <a:t>This makes the quantum output usable as a traffic-control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3783051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C6571-0EEB-CDBE-7323-1F047CA39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3D8DEAB-FF6F-2922-F5E4-170B93A54F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2325985"/>
              </p:ext>
            </p:extLst>
          </p:nvPr>
        </p:nvGraphicFramePr>
        <p:xfrm>
          <a:off x="1284424" y="1825627"/>
          <a:ext cx="9623152" cy="43513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11576">
                  <a:extLst>
                    <a:ext uri="{9D8B030D-6E8A-4147-A177-3AD203B41FA5}">
                      <a16:colId xmlns:a16="http://schemas.microsoft.com/office/drawing/2014/main" val="2789932659"/>
                    </a:ext>
                  </a:extLst>
                </a:gridCol>
                <a:gridCol w="4811576">
                  <a:extLst>
                    <a:ext uri="{9D8B030D-6E8A-4147-A177-3AD203B41FA5}">
                      <a16:colId xmlns:a16="http://schemas.microsoft.com/office/drawing/2014/main" val="4052020542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Category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Technology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71904308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Programming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Python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26951229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Frontend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Streamlit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27686844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ML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Scikit-learn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6386208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ML Model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Random Forest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77016777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Quantum Framework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Qiskit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9476453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Quantum Simulator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Qiskit Aer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07422626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Optimization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SciPy / COBYLA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82342328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Data Processing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Pandas, NumPy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52901504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Visualization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Plotly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46345332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Network Modeling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NetworkX</a:t>
                      </a:r>
                      <a:endParaRPr lang="en-IN" sz="1600" dirty="0"/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224886326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Model Storage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Joblib</a:t>
                      </a:r>
                      <a:endParaRPr lang="en-IN" sz="1600" dirty="0"/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84471345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Testing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Pytest</a:t>
                      </a:r>
                      <a:endParaRPr lang="en-IN" sz="1600" dirty="0"/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658111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9396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FE398-46B9-B559-D246-392A733D8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&amp; Modules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009F10-2126-FC11-A8EF-CCCD2571AE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2496" y="1825625"/>
            <a:ext cx="65270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2033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663E8-BAEC-CA52-5DAF-893C85F7A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&amp; Performance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AF085-6C9E-FB63-9277-713496718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Key observation</a:t>
            </a:r>
          </a:p>
          <a:p>
            <a:pPr marL="0" indent="0">
              <a:buNone/>
            </a:pPr>
            <a:r>
              <a:rPr lang="en-IN" dirty="0"/>
              <a:t>In this recorded benchmark, </a:t>
            </a:r>
            <a:r>
              <a:rPr lang="en-IN" b="1" dirty="0"/>
              <a:t>AQSA + QAOA substantially improves over fixed-time and standard QAOA</a:t>
            </a:r>
            <a:r>
              <a:rPr lang="en-IN" dirty="0"/>
              <a:t>, while approaching the exact brute-force result.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48EF4CA-FB2D-4CED-BF05-9512111BDF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539642"/>
              </p:ext>
            </p:extLst>
          </p:nvPr>
        </p:nvGraphicFramePr>
        <p:xfrm>
          <a:off x="838200" y="1806733"/>
          <a:ext cx="10515600" cy="24634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07690171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5559599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2524396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4045198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91658160"/>
                    </a:ext>
                  </a:extLst>
                </a:gridCol>
              </a:tblGrid>
              <a:tr h="410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Avg Wait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Avg 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Throughput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Feasibility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0163821"/>
                  </a:ext>
                </a:extLst>
              </a:tr>
              <a:tr h="410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Fixed-Time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44.2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86.4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24.5/min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03789"/>
                  </a:ext>
                </a:extLst>
              </a:tr>
              <a:tr h="410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Greedy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35.8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69.1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28.2/min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1612317"/>
                  </a:ext>
                </a:extLst>
              </a:tr>
              <a:tr h="410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Brute Force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26.8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33.1/min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052552"/>
                  </a:ext>
                </a:extLst>
              </a:tr>
              <a:tr h="410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Standard QAOA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41.2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79.5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25.8/min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48.5%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7586440"/>
                  </a:ext>
                </a:extLst>
              </a:tr>
              <a:tr h="410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AQSA + QAOA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27.2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52.8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32.8/min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0110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4521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A4F7-07F2-501B-DB57-45E9D0F17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Ablation Study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FCBD5-FB05-38C4-F27F-1642A5CB7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Standard QAOA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pPr marL="0" indent="0">
              <a:buNone/>
            </a:pPr>
            <a:r>
              <a:rPr lang="en-IN" dirty="0"/>
              <a:t>AI + QAOA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pPr marL="0" indent="0">
              <a:buNone/>
            </a:pPr>
            <a:r>
              <a:rPr lang="en-IN" dirty="0"/>
              <a:t>AI + Dynamic QUBO + QAOA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pPr marL="0" indent="0">
              <a:buNone/>
            </a:pPr>
            <a:r>
              <a:rPr lang="en-IN" dirty="0"/>
              <a:t>AI + Variable Selection + QAOA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pPr marL="0" indent="0">
              <a:buNone/>
            </a:pPr>
            <a:r>
              <a:rPr lang="en-IN" dirty="0"/>
              <a:t>Complete AQSA + QAOA</a:t>
            </a:r>
          </a:p>
        </p:txBody>
      </p:sp>
    </p:spTree>
    <p:extLst>
      <p:ext uri="{BB962C8B-B14F-4D97-AF65-F5344CB8AC3E}">
        <p14:creationId xmlns:p14="http://schemas.microsoft.com/office/powerpoint/2010/main" val="2083592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2C8EE-08FD-68D9-A6FD-B6CF0F100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3278"/>
            <a:ext cx="10515600" cy="525368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Record results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Key Message</a:t>
            </a:r>
          </a:p>
          <a:p>
            <a:pPr marL="0" indent="0">
              <a:buNone/>
            </a:pPr>
            <a:r>
              <a:rPr lang="en-IN" dirty="0"/>
              <a:t>The ablation study shows progressively improved recorded performance as the AQSA components are added.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D5BCFE-1A6F-ABB7-C0BB-D8B56D5098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527458"/>
              </p:ext>
            </p:extLst>
          </p:nvPr>
        </p:nvGraphicFramePr>
        <p:xfrm>
          <a:off x="838200" y="1527976"/>
          <a:ext cx="105156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95966583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4156090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643211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Experiment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Avg Wait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Feasibility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562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Standard QAOA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41.2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52.4%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0665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+ QAOA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38.1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58.1%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2601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Dynamic QUBO + QAOA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34.0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74.5%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3206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Variable Selection + QAOA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30.5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86.2%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2204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Complete AQSA + QAOA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25.6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9234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0677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8DBE0-F547-FF58-63FE-8F19315E6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B9E35-89CA-5355-FAB1-A21DE3912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Adaptive</a:t>
            </a:r>
          </a:p>
          <a:p>
            <a:pPr marL="0" indent="0">
              <a:buNone/>
            </a:pPr>
            <a:r>
              <a:rPr lang="en-IN" dirty="0"/>
              <a:t>Traffic conditions continuously influence optimization.</a:t>
            </a:r>
          </a:p>
          <a:p>
            <a:pPr marL="0" indent="0">
              <a:buNone/>
            </a:pPr>
            <a:r>
              <a:rPr lang="en-IN" b="1" dirty="0"/>
              <a:t>AI-Driven</a:t>
            </a:r>
          </a:p>
          <a:p>
            <a:pPr marL="0" indent="0">
              <a:buNone/>
            </a:pPr>
            <a:r>
              <a:rPr lang="en-IN" dirty="0"/>
              <a:t>Traffic prediction guides optimization decisions.</a:t>
            </a:r>
          </a:p>
          <a:p>
            <a:pPr marL="0" indent="0">
              <a:buNone/>
            </a:pPr>
            <a:r>
              <a:rPr lang="en-IN" b="1" dirty="0"/>
              <a:t>Quantum-Assisted</a:t>
            </a:r>
          </a:p>
          <a:p>
            <a:pPr marL="0" indent="0">
              <a:buNone/>
            </a:pPr>
            <a:r>
              <a:rPr lang="en-IN" dirty="0"/>
              <a:t>QAOA is used to solve the dynamically generated optimization problem.</a:t>
            </a:r>
          </a:p>
          <a:p>
            <a:pPr marL="0" indent="0">
              <a:buNone/>
            </a:pPr>
            <a:r>
              <a:rPr lang="en-IN" b="1" dirty="0"/>
              <a:t>Resource-Aware</a:t>
            </a:r>
          </a:p>
          <a:p>
            <a:pPr marL="0" indent="0">
              <a:buNone/>
            </a:pPr>
            <a:r>
              <a:rPr lang="en-IN" dirty="0"/>
              <a:t>Only important intersections are mapped to available qubits.</a:t>
            </a:r>
          </a:p>
          <a:p>
            <a:pPr marL="0" indent="0">
              <a:buNone/>
            </a:pPr>
            <a:r>
              <a:rPr lang="en-IN" b="1" dirty="0"/>
              <a:t>Closed-Loop</a:t>
            </a:r>
          </a:p>
          <a:p>
            <a:pPr marL="0" indent="0">
              <a:buNone/>
            </a:pPr>
            <a:r>
              <a:rPr lang="en-IN" dirty="0"/>
              <a:t>Traffic simulation feeds new states back into the optimization pipeline.</a:t>
            </a:r>
          </a:p>
          <a:p>
            <a:pPr marL="0" indent="0">
              <a:buNone/>
            </a:pPr>
            <a:r>
              <a:rPr lang="en-IN" b="1" dirty="0"/>
              <a:t>Explainable</a:t>
            </a:r>
          </a:p>
          <a:p>
            <a:pPr marL="0" indent="0">
              <a:buNone/>
            </a:pPr>
            <a:r>
              <a:rPr lang="en-IN" dirty="0"/>
              <a:t>The dashboard exposes priority scores, QUBO matrices, quantum results and performance metrics.</a:t>
            </a:r>
          </a:p>
          <a:p>
            <a:pPr marL="0" indent="0">
              <a:buNone/>
            </a:pPr>
            <a:r>
              <a:rPr lang="en-IN" b="1" dirty="0"/>
              <a:t>Research-Oriented</a:t>
            </a:r>
          </a:p>
          <a:p>
            <a:pPr marL="0" indent="0">
              <a:buNone/>
            </a:pPr>
            <a:r>
              <a:rPr lang="en-IN" dirty="0"/>
              <a:t>Includes benchmarks, ablation studies and threshold experiments.</a:t>
            </a:r>
          </a:p>
        </p:txBody>
      </p:sp>
    </p:spTree>
    <p:extLst>
      <p:ext uri="{BB962C8B-B14F-4D97-AF65-F5344CB8AC3E}">
        <p14:creationId xmlns:p14="http://schemas.microsoft.com/office/powerpoint/2010/main" val="285978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FCF7-C568-C6B8-F68C-A5C9E6946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BF605-2496-5742-44B5-2B4BCD43C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Current quantum experiments are performed on </a:t>
            </a:r>
            <a:r>
              <a:rPr lang="en-IN" b="1" dirty="0"/>
              <a:t>simulators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Experiments are limited to small qubit counts. </a:t>
            </a:r>
          </a:p>
          <a:p>
            <a:pPr lvl="0"/>
            <a:r>
              <a:rPr lang="en-IN" dirty="0"/>
              <a:t>Traffic data is primarily simulated/sample data. </a:t>
            </a:r>
          </a:p>
          <a:p>
            <a:pPr lvl="0"/>
            <a:r>
              <a:rPr lang="en-IN" dirty="0"/>
              <a:t>Real-world traffic deployment requires additional validation. </a:t>
            </a:r>
          </a:p>
          <a:p>
            <a:pPr lvl="0"/>
            <a:r>
              <a:rPr lang="en-IN" dirty="0"/>
              <a:t>Quantum simulation becomes computationally expensive as qubit count increases. </a:t>
            </a:r>
          </a:p>
          <a:p>
            <a:pPr lvl="0"/>
            <a:r>
              <a:rPr lang="en-IN" dirty="0"/>
              <a:t>QAOA performance depends on circuit depth and parameter optimization. </a:t>
            </a:r>
          </a:p>
          <a:p>
            <a:pPr lvl="0"/>
            <a:r>
              <a:rPr lang="en-IN" dirty="0"/>
              <a:t>The recorded benchmark does not establish quantum advantage.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79755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8200F-2F9D-8BFA-50A7-950D3F6A8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B7EB7-46EB-BB56-7F59-AA8F1EA16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Real-Time Traffic Integration</a:t>
            </a:r>
          </a:p>
          <a:p>
            <a:pPr marL="0" indent="0">
              <a:buNone/>
            </a:pPr>
            <a:r>
              <a:rPr lang="en-IN" dirty="0"/>
              <a:t>Integrate live traffic feeds and IoT sensors.</a:t>
            </a:r>
          </a:p>
          <a:p>
            <a:pPr marL="0" indent="0">
              <a:buNone/>
            </a:pPr>
            <a:r>
              <a:rPr lang="en-IN" b="1" dirty="0"/>
              <a:t>Larger Urban Networks</a:t>
            </a:r>
          </a:p>
          <a:p>
            <a:pPr marL="0" indent="0">
              <a:buNone/>
            </a:pPr>
            <a:r>
              <a:rPr lang="en-IN" dirty="0"/>
              <a:t>Scale from small simulated networks toward larger road networks.</a:t>
            </a:r>
          </a:p>
          <a:p>
            <a:pPr marL="0" indent="0">
              <a:buNone/>
            </a:pPr>
            <a:r>
              <a:rPr lang="en-IN" b="1" dirty="0"/>
              <a:t>Real Quantum Hardware</a:t>
            </a:r>
          </a:p>
          <a:p>
            <a:pPr marL="0" indent="0">
              <a:buNone/>
            </a:pPr>
            <a:r>
              <a:rPr lang="en-IN" dirty="0"/>
              <a:t>Evaluate AQSA on available quantum hardware.</a:t>
            </a:r>
          </a:p>
          <a:p>
            <a:pPr marL="0" indent="0">
              <a:buNone/>
            </a:pPr>
            <a:r>
              <a:rPr lang="en-IN" b="1" dirty="0"/>
              <a:t>Advanced AI</a:t>
            </a:r>
          </a:p>
          <a:p>
            <a:pPr marL="0" indent="0">
              <a:buNone/>
            </a:pPr>
            <a:r>
              <a:rPr lang="en-IN" dirty="0"/>
              <a:t>Explore:</a:t>
            </a:r>
          </a:p>
          <a:p>
            <a:pPr lvl="0"/>
            <a:r>
              <a:rPr lang="en-IN" dirty="0"/>
              <a:t>LSTM </a:t>
            </a:r>
          </a:p>
          <a:p>
            <a:pPr lvl="0"/>
            <a:r>
              <a:rPr lang="en-IN" dirty="0"/>
              <a:t>Transformers </a:t>
            </a:r>
          </a:p>
          <a:p>
            <a:pPr lvl="0"/>
            <a:r>
              <a:rPr lang="en-IN" dirty="0"/>
              <a:t>Graph Neural Networks </a:t>
            </a:r>
          </a:p>
          <a:p>
            <a:pPr lvl="0"/>
            <a:r>
              <a:rPr lang="en-IN" dirty="0"/>
              <a:t>Reinforcement Learning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84742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8E720-2EAE-2F69-E80C-015D9E270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5522"/>
            <a:ext cx="10515600" cy="5271441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Multi-Agent Traffic Optimization</a:t>
            </a:r>
          </a:p>
          <a:p>
            <a:pPr marL="0" indent="0">
              <a:buNone/>
            </a:pPr>
            <a:r>
              <a:rPr lang="en-IN" dirty="0"/>
              <a:t>Coordinate multiple intersections and traffic corridors.</a:t>
            </a:r>
          </a:p>
          <a:p>
            <a:pPr marL="0" indent="0">
              <a:buNone/>
            </a:pPr>
            <a:r>
              <a:rPr lang="en-IN" b="1" dirty="0"/>
              <a:t>Priority Vehicles</a:t>
            </a:r>
          </a:p>
          <a:p>
            <a:pPr marL="0" indent="0">
              <a:buNone/>
            </a:pPr>
            <a:r>
              <a:rPr lang="en-IN" dirty="0"/>
              <a:t>Support:</a:t>
            </a:r>
          </a:p>
          <a:p>
            <a:pPr lvl="0"/>
            <a:r>
              <a:rPr lang="en-IN" dirty="0"/>
              <a:t>Ambulances </a:t>
            </a:r>
          </a:p>
          <a:p>
            <a:pPr lvl="0"/>
            <a:r>
              <a:rPr lang="en-IN" dirty="0"/>
              <a:t>Fire vehicles </a:t>
            </a:r>
          </a:p>
          <a:p>
            <a:pPr lvl="0"/>
            <a:r>
              <a:rPr lang="en-IN" dirty="0"/>
              <a:t>Public transport</a:t>
            </a:r>
          </a:p>
          <a:p>
            <a:pPr marL="0" indent="0">
              <a:buNone/>
            </a:pPr>
            <a:r>
              <a:rPr lang="en-IN" b="1" dirty="0"/>
              <a:t>Sustainability</a:t>
            </a:r>
          </a:p>
          <a:p>
            <a:pPr marL="0" indent="0">
              <a:buNone/>
            </a:pPr>
            <a:r>
              <a:rPr lang="en-IN" dirty="0"/>
              <a:t>Optimize traffic with consideration for fuel consumption and emissions.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06920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2450D-1B9A-93B2-A11B-BCF98E01A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9C961-1963-FDC2-E481-71AF02F3E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Q-</a:t>
            </a:r>
            <a:r>
              <a:rPr lang="en-IN" dirty="0" err="1"/>
              <a:t>TrafficAI</a:t>
            </a:r>
            <a:r>
              <a:rPr lang="en-IN" dirty="0"/>
              <a:t> presents a hybrid approach combining:</a:t>
            </a:r>
          </a:p>
          <a:p>
            <a:pPr marL="0" indent="0">
              <a:buNone/>
            </a:pPr>
            <a:r>
              <a:rPr lang="en-IN" b="1" dirty="0"/>
              <a:t>Artificial Intelligence</a:t>
            </a:r>
          </a:p>
          <a:p>
            <a:pPr marL="0" indent="0">
              <a:buNone/>
            </a:pPr>
            <a:r>
              <a:rPr lang="en-IN" dirty="0"/>
              <a:t>for traffic prediction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b="1" dirty="0"/>
              <a:t>AQSA</a:t>
            </a:r>
          </a:p>
          <a:p>
            <a:pPr marL="0" indent="0">
              <a:buNone/>
            </a:pPr>
            <a:r>
              <a:rPr lang="en-IN" dirty="0"/>
              <a:t>for adaptive signal prioritization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b="1" dirty="0"/>
              <a:t>Dynamic QUBO</a:t>
            </a:r>
          </a:p>
          <a:p>
            <a:pPr marL="0" indent="0">
              <a:buNone/>
            </a:pPr>
            <a:r>
              <a:rPr lang="en-IN" dirty="0"/>
              <a:t>for traffic-specific optimization </a:t>
            </a:r>
            <a:r>
              <a:rPr lang="en-IN" dirty="0" err="1"/>
              <a:t>modeling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b="1" dirty="0"/>
              <a:t>QAOA</a:t>
            </a:r>
          </a:p>
          <a:p>
            <a:pPr marL="0" indent="0">
              <a:buNone/>
            </a:pPr>
            <a:r>
              <a:rPr lang="en-IN" dirty="0"/>
              <a:t>for quantum-assisted optimization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b="1" dirty="0"/>
              <a:t>Traffic Simulation</a:t>
            </a:r>
          </a:p>
          <a:p>
            <a:pPr marL="0" indent="0">
              <a:buNone/>
            </a:pPr>
            <a:r>
              <a:rPr lang="en-IN" dirty="0"/>
              <a:t>for evaluating optimized signal plans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84115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8AFA1-DB5D-88AE-829A-2353BCB55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0113"/>
            <a:ext cx="10515600" cy="538685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Final Takeaway</a:t>
            </a:r>
          </a:p>
          <a:p>
            <a:pPr marL="0" indent="0">
              <a:buNone/>
            </a:pPr>
            <a:r>
              <a:rPr lang="en-IN" dirty="0"/>
              <a:t>Q-</a:t>
            </a:r>
            <a:r>
              <a:rPr lang="en-IN" dirty="0" err="1"/>
              <a:t>TrafficAI</a:t>
            </a:r>
            <a:r>
              <a:rPr lang="en-IN" dirty="0"/>
              <a:t> does not send the entire traffic network blindly into quantum optimization. It uses AI to identify where optimization matters most, dynamically constructs the problem, and then applies QAOA within a controlled quantum resource budget.</a:t>
            </a:r>
          </a:p>
        </p:txBody>
      </p:sp>
    </p:spTree>
    <p:extLst>
      <p:ext uri="{BB962C8B-B14F-4D97-AF65-F5344CB8AC3E}">
        <p14:creationId xmlns:p14="http://schemas.microsoft.com/office/powerpoint/2010/main" val="20694497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Thank you Images - Free Download on Magnific (formerly Freepik)">
            <a:extLst>
              <a:ext uri="{FF2B5EF4-FFF2-40B4-BE49-F238E27FC236}">
                <a16:creationId xmlns:a16="http://schemas.microsoft.com/office/drawing/2014/main" id="{CDA827D4-4420-234C-39A5-1FBDF617A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9126" y="1592455"/>
            <a:ext cx="5202315" cy="359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710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1243</Words>
  <Application>Microsoft Office PowerPoint</Application>
  <PresentationFormat>Widescreen</PresentationFormat>
  <Paragraphs>351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Q-TrafficAI</vt:lpstr>
      <vt:lpstr>Introduction</vt:lpstr>
      <vt:lpstr>PowerPoint Presentation</vt:lpstr>
      <vt:lpstr>Problem statement</vt:lpstr>
      <vt:lpstr>Existing Systems</vt:lpstr>
      <vt:lpstr>PowerPoint Presentation</vt:lpstr>
      <vt:lpstr>Proposed System</vt:lpstr>
      <vt:lpstr>Objectives</vt:lpstr>
      <vt:lpstr>System Architecture</vt:lpstr>
      <vt:lpstr>AI Traffic Prediction</vt:lpstr>
      <vt:lpstr>PowerPoint Presentation</vt:lpstr>
      <vt:lpstr>AQSA Algorithm</vt:lpstr>
      <vt:lpstr>PowerPoint Presentation</vt:lpstr>
      <vt:lpstr>Dynamic QUBO &amp; QAOA</vt:lpstr>
      <vt:lpstr>PowerPoint Presentation</vt:lpstr>
      <vt:lpstr>PowerPoint Presentation</vt:lpstr>
      <vt:lpstr>Feasibility-Aware Solution Selection</vt:lpstr>
      <vt:lpstr>PowerPoint Presentation</vt:lpstr>
      <vt:lpstr>PowerPoint Presentation</vt:lpstr>
      <vt:lpstr>Technology Stack</vt:lpstr>
      <vt:lpstr>Dashboard &amp; Modules</vt:lpstr>
      <vt:lpstr>Results &amp; Performance</vt:lpstr>
      <vt:lpstr>Ablation Study</vt:lpstr>
      <vt:lpstr>PowerPoint Presentation</vt:lpstr>
      <vt:lpstr>Advantages</vt:lpstr>
      <vt:lpstr>Limitations</vt:lpstr>
      <vt:lpstr>Future Scope</vt:lpstr>
      <vt:lpstr>PowerPoint Presentation</vt:lpstr>
      <vt:lpstr>Conclusion</vt:lpstr>
      <vt:lpstr>PowerPoint Presentation</vt:lpstr>
      <vt:lpstr>PowerPoint Presentation</vt:lpstr>
    </vt:vector>
  </TitlesOfParts>
  <Company>SCM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Nikhil Sai Ram Reddy</dc:creator>
  <cp:lastModifiedBy>A Nikhil Sai Ram Reddy</cp:lastModifiedBy>
  <cp:revision>1</cp:revision>
  <dcterms:created xsi:type="dcterms:W3CDTF">2026-09-29T06:08:34Z</dcterms:created>
  <dcterms:modified xsi:type="dcterms:W3CDTF">2026-09-29T06:08:49Z</dcterms:modified>
</cp:coreProperties>
</file>